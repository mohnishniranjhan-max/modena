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67" r:id="rId10"/>
    <p:sldId id="268" r:id="rId11"/>
    <p:sldId id="269" r:id="rId12"/>
    <p:sldId id="266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49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58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3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13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69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5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4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20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0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17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8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57B38-8055-4C57-8A4D-6190FC2E21F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554C-5EA5-4689-933D-380949200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7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82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47afaba1-49e3-44b8-bfe7-69e01c403b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ob:https://web.whatsapp.com/47afaba1-49e3-44b8-bfe7-69e01c403b6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587" y="1245705"/>
            <a:ext cx="4510939" cy="33855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94852" y="583097"/>
            <a:ext cx="68116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Powerful High-Speed Motor</a:t>
            </a:r>
            <a:r>
              <a:rPr lang="en-GB" dirty="0"/>
              <a:t> for fast blending and grinding.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Food-Grade Polycarbonate Jars</a:t>
            </a:r>
            <a:r>
              <a:rPr lang="en-GB" dirty="0"/>
              <a:t> – BPA-free, durable, and unbreakable.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Stainless Steel Cross Blade</a:t>
            </a:r>
            <a:r>
              <a:rPr lang="en-GB" dirty="0"/>
              <a:t> for smooth blending of fruits, vegetables, shakes, and smoothies.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Dry Grinding Jar</a:t>
            </a:r>
            <a:r>
              <a:rPr lang="en-GB" dirty="0"/>
              <a:t> for coffee beans, spices, dry fruits, and masalas.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Leak-Proof Travel Lid</a:t>
            </a:r>
            <a:r>
              <a:rPr lang="en-GB" dirty="0"/>
              <a:t> lets you carry your drink anywhere.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Sipper Lid Included</a:t>
            </a:r>
            <a:r>
              <a:rPr lang="en-GB" dirty="0"/>
              <a:t> for convenient on-the-go use.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Compact &amp; Space-Saving Design</a:t>
            </a:r>
            <a:r>
              <a:rPr lang="en-GB" dirty="0"/>
              <a:t> suitable for modern kitchens.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One-Touch Operation</a:t>
            </a:r>
            <a:r>
              <a:rPr lang="en-GB" dirty="0"/>
              <a:t> for easy and hassle-free blending.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Non-Slip Base</a:t>
            </a:r>
            <a:r>
              <a:rPr lang="en-GB" dirty="0"/>
              <a:t> for enhanced stability during operation.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Easy to Clean</a:t>
            </a:r>
            <a:r>
              <a:rPr lang="en-GB" dirty="0"/>
              <a:t> – detachable jars and blade assembly.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Low Noise Operation</a:t>
            </a:r>
            <a:r>
              <a:rPr lang="en-GB" dirty="0"/>
              <a:t> with efficient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Elegant Premium Finish</a:t>
            </a:r>
            <a:r>
              <a:rPr lang="en-GB" dirty="0"/>
              <a:t> complements every kitchen. </a:t>
            </a:r>
          </a:p>
        </p:txBody>
      </p:sp>
    </p:spTree>
    <p:extLst>
      <p:ext uri="{BB962C8B-B14F-4D97-AF65-F5344CB8AC3E}">
        <p14:creationId xmlns:p14="http://schemas.microsoft.com/office/powerpoint/2010/main" val="309105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599" y="940193"/>
            <a:ext cx="4568771" cy="3433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90052" y="0"/>
            <a:ext cx="5367131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Powerful High-Speed Performance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Efficiently blends fruits, vegetables, smoothies, shakes, juices, and protein drinks in seconds.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Multi-Purpose Grinding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Ideal for dry grinding spices, coffee beans, dry fruits, nuts, seeds, chutneys, and masalas.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Food-Grade Unbreakable Jars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Durable, BPA-free polycarbonate jars designed for everyday use.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Crystal-clear body for easy visibility while blending.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Two Jar Set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b="1" dirty="0"/>
              <a:t>Large Jar:</a:t>
            </a:r>
            <a:r>
              <a:rPr lang="en-IN" sz="1200" dirty="0"/>
              <a:t> Perfect for smoothies, shakes, juices, and blending.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b="1" dirty="0"/>
              <a:t>Small Jar:</a:t>
            </a:r>
            <a:r>
              <a:rPr lang="en-IN" sz="1200" dirty="0"/>
              <a:t> Ideal for dry grinding and chutney preparation.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Stainless Steel Blades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Precision-engineered stainless steel blades provide fast and uniform grinding.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Corrosion-resistant for long-lasting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Leak-Proof Operation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Secure locking mechanism and tight-seal lid help prevent spills during operation.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Shaker/Sipper Lid Included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Convert the blending jar into a portable bottle for direct drinking and easy carrying.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Compact &amp; Space Saving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Modern compact design occupies minimal kitchen counter space.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One-Touch Operation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Simple press-and-twist operation for effortless blending.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Easy to Clean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Detachable jars and smooth surfaces make cleaning quick and convenient.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Elegant Premium Finish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Attractive glossy red body with stylish floral design enhances kitchen aesthetics.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Stable Anti-Skid Base</a:t>
            </a:r>
            <a:r>
              <a:rPr lang="en-I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/>
              <a:t>Provides better grip and stability during operation. </a:t>
            </a:r>
          </a:p>
        </p:txBody>
      </p:sp>
    </p:spTree>
    <p:extLst>
      <p:ext uri="{BB962C8B-B14F-4D97-AF65-F5344CB8AC3E}">
        <p14:creationId xmlns:p14="http://schemas.microsoft.com/office/powerpoint/2010/main" val="3449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54711"/>
              </p:ext>
            </p:extLst>
          </p:nvPr>
        </p:nvGraphicFramePr>
        <p:xfrm>
          <a:off x="5870714" y="2517912"/>
          <a:ext cx="3935895" cy="1975266"/>
        </p:xfrm>
        <a:graphic>
          <a:graphicData uri="http://schemas.openxmlformats.org/drawingml/2006/table">
            <a:tbl>
              <a:tblPr/>
              <a:tblGrid>
                <a:gridCol w="1030351">
                  <a:extLst>
                    <a:ext uri="{9D8B030D-6E8A-4147-A177-3AD203B41FA5}">
                      <a16:colId xmlns:a16="http://schemas.microsoft.com/office/drawing/2014/main" val="1270913851"/>
                    </a:ext>
                  </a:extLst>
                </a:gridCol>
                <a:gridCol w="2905544">
                  <a:extLst>
                    <a:ext uri="{9D8B030D-6E8A-4147-A177-3AD203B41FA5}">
                      <a16:colId xmlns:a16="http://schemas.microsoft.com/office/drawing/2014/main" val="1976746346"/>
                    </a:ext>
                  </a:extLst>
                </a:gridCol>
              </a:tblGrid>
              <a:tr h="292700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50885"/>
                  </a:ext>
                </a:extLst>
              </a:tr>
              <a:tr h="292700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521955"/>
                  </a:ext>
                </a:extLst>
              </a:tr>
              <a:tr h="292700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62243"/>
                  </a:ext>
                </a:extLst>
              </a:tr>
              <a:tr h="292700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629683"/>
                  </a:ext>
                </a:extLst>
              </a:tr>
              <a:tr h="512226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582900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513" y="1470424"/>
            <a:ext cx="3915321" cy="293649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212795"/>
              </p:ext>
            </p:extLst>
          </p:nvPr>
        </p:nvGraphicFramePr>
        <p:xfrm>
          <a:off x="4916556" y="709508"/>
          <a:ext cx="5475058" cy="4692716"/>
        </p:xfrm>
        <a:graphic>
          <a:graphicData uri="http://schemas.openxmlformats.org/drawingml/2006/table">
            <a:tbl>
              <a:tblPr/>
              <a:tblGrid>
                <a:gridCol w="2737529">
                  <a:extLst>
                    <a:ext uri="{9D8B030D-6E8A-4147-A177-3AD203B41FA5}">
                      <a16:colId xmlns:a16="http://schemas.microsoft.com/office/drawing/2014/main" val="4180239050"/>
                    </a:ext>
                  </a:extLst>
                </a:gridCol>
                <a:gridCol w="2737529">
                  <a:extLst>
                    <a:ext uri="{9D8B030D-6E8A-4147-A177-3AD203B41FA5}">
                      <a16:colId xmlns:a16="http://schemas.microsoft.com/office/drawing/2014/main" val="2419292263"/>
                    </a:ext>
                  </a:extLst>
                </a:gridCol>
              </a:tblGrid>
              <a:tr h="335194">
                <a:tc>
                  <a:txBody>
                    <a:bodyPr/>
                    <a:lstStyle/>
                    <a:p>
                      <a:r>
                        <a:rPr lang="en-IN" sz="1500" dirty="0"/>
                        <a:t>Specification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Details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885777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Motor Power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550 Watts</a:t>
                      </a:r>
                      <a:endParaRPr lang="en-IN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123164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Motor Type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High-Performance Motor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509387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Voltage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220–240V AC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914689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 dirty="0"/>
                        <a:t>Frequency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50–60 Hz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552875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Speed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Approx. 18,000–20,000 RPM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936466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Speed Control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3 Speed + Pulse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98094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Number of Jars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2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733518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Jar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Food-Grade Stainless Steel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043601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Blade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Stainless Steel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74378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 dirty="0"/>
                        <a:t>Body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ABS Plastic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287144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Safety Feature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Overload Protection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754117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Feet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Anti-Skid Rubber Feet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370418"/>
                  </a:ext>
                </a:extLst>
              </a:tr>
              <a:tr h="335194">
                <a:tc>
                  <a:txBody>
                    <a:bodyPr/>
                    <a:lstStyle/>
                    <a:p>
                      <a:r>
                        <a:rPr lang="en-IN" sz="1500"/>
                        <a:t>Warranty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500" dirty="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07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6219" y="648854"/>
            <a:ext cx="63760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F1111"/>
                </a:solidFill>
                <a:effectLst/>
                <a:latin typeface="Amazon Ember"/>
              </a:rPr>
              <a:t>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49806"/>
              </p:ext>
            </p:extLst>
          </p:nvPr>
        </p:nvGraphicFramePr>
        <p:xfrm>
          <a:off x="5155096" y="2955234"/>
          <a:ext cx="4678018" cy="2088044"/>
        </p:xfrm>
        <a:graphic>
          <a:graphicData uri="http://schemas.openxmlformats.org/drawingml/2006/table">
            <a:tbl>
              <a:tblPr/>
              <a:tblGrid>
                <a:gridCol w="1224624">
                  <a:extLst>
                    <a:ext uri="{9D8B030D-6E8A-4147-A177-3AD203B41FA5}">
                      <a16:colId xmlns:a16="http://schemas.microsoft.com/office/drawing/2014/main" val="1510937820"/>
                    </a:ext>
                  </a:extLst>
                </a:gridCol>
                <a:gridCol w="3453394">
                  <a:extLst>
                    <a:ext uri="{9D8B030D-6E8A-4147-A177-3AD203B41FA5}">
                      <a16:colId xmlns:a16="http://schemas.microsoft.com/office/drawing/2014/main" val="3688110361"/>
                    </a:ext>
                  </a:extLst>
                </a:gridCol>
              </a:tblGrid>
              <a:tr h="357145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26403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636565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43838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845579"/>
                  </a:ext>
                </a:extLst>
              </a:tr>
              <a:tr h="625004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7639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926" y="1164826"/>
            <a:ext cx="4196301" cy="316863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009306"/>
              </p:ext>
            </p:extLst>
          </p:nvPr>
        </p:nvGraphicFramePr>
        <p:xfrm>
          <a:off x="5155096" y="648854"/>
          <a:ext cx="5408796" cy="4772236"/>
        </p:xfrm>
        <a:graphic>
          <a:graphicData uri="http://schemas.openxmlformats.org/drawingml/2006/table">
            <a:tbl>
              <a:tblPr/>
              <a:tblGrid>
                <a:gridCol w="2704398">
                  <a:extLst>
                    <a:ext uri="{9D8B030D-6E8A-4147-A177-3AD203B41FA5}">
                      <a16:colId xmlns:a16="http://schemas.microsoft.com/office/drawing/2014/main" val="3623768347"/>
                    </a:ext>
                  </a:extLst>
                </a:gridCol>
                <a:gridCol w="2704398">
                  <a:extLst>
                    <a:ext uri="{9D8B030D-6E8A-4147-A177-3AD203B41FA5}">
                      <a16:colId xmlns:a16="http://schemas.microsoft.com/office/drawing/2014/main" val="1221818054"/>
                    </a:ext>
                  </a:extLst>
                </a:gridCol>
              </a:tblGrid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Specification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Details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665503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Motor Power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750 Watts</a:t>
                      </a:r>
                      <a:endParaRPr lang="en-IN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692712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Motor Type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High Performance Motor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830457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 dirty="0"/>
                        <a:t>Voltage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220–240V AC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778141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Frequency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50–60 Hz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285746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 dirty="0"/>
                        <a:t>Speed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20,000–22,000 RPM (Approx.)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676490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Speed Settings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3 Speed + Pulse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170582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Number of Jars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3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737910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Jar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Food Grade Stainless Steel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834572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Blade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Stainless Steel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302082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Body Material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ABS Plastic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64055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Safety Feature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Overload Protection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18306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Feet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Anti-Skid Vacuum Feet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31869"/>
                  </a:ext>
                </a:extLst>
              </a:tr>
              <a:tr h="340874">
                <a:tc>
                  <a:txBody>
                    <a:bodyPr/>
                    <a:lstStyle/>
                    <a:p>
                      <a:r>
                        <a:rPr lang="en-IN" sz="1500"/>
                        <a:t>Warranty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500" dirty="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236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62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98624"/>
              </p:ext>
            </p:extLst>
          </p:nvPr>
        </p:nvGraphicFramePr>
        <p:xfrm>
          <a:off x="7209184" y="1510747"/>
          <a:ext cx="4452729" cy="3897081"/>
        </p:xfrm>
        <a:graphic>
          <a:graphicData uri="http://schemas.openxmlformats.org/drawingml/2006/table">
            <a:tbl>
              <a:tblPr/>
              <a:tblGrid>
                <a:gridCol w="1066391">
                  <a:extLst>
                    <a:ext uri="{9D8B030D-6E8A-4147-A177-3AD203B41FA5}">
                      <a16:colId xmlns:a16="http://schemas.microsoft.com/office/drawing/2014/main" val="2946456258"/>
                    </a:ext>
                  </a:extLst>
                </a:gridCol>
                <a:gridCol w="3386338">
                  <a:extLst>
                    <a:ext uri="{9D8B030D-6E8A-4147-A177-3AD203B41FA5}">
                      <a16:colId xmlns:a16="http://schemas.microsoft.com/office/drawing/2014/main" val="480151178"/>
                    </a:ext>
                  </a:extLst>
                </a:gridCol>
              </a:tblGrid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68106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2446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431085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27239"/>
                  </a:ext>
                </a:extLst>
              </a:tr>
              <a:tr h="378242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4244"/>
                  </a:ext>
                </a:extLst>
              </a:tr>
              <a:tr h="540276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94232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41214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137204"/>
                  </a:ext>
                </a:extLst>
              </a:tr>
              <a:tr h="378242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0478"/>
                  </a:ext>
                </a:extLst>
              </a:tr>
              <a:tr h="474541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6982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7810" y="1694415"/>
            <a:ext cx="3562661" cy="267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25077" y="278296"/>
            <a:ext cx="5645427" cy="795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Sujata Jar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7460" y="1510748"/>
            <a:ext cx="58044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Features</a:t>
            </a:r>
          </a:p>
          <a:p>
            <a:r>
              <a:rPr lang="en-IN" b="1" dirty="0"/>
              <a:t>🥣 Complete 3-Jar 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 Liquidizing Jar, Dry Grinding Jar, and Chutney Jar for all kitchen needs. </a:t>
            </a:r>
          </a:p>
          <a:p>
            <a:r>
              <a:rPr lang="en-IN" b="1" dirty="0"/>
              <a:t>🛡️ Premium Stainless Steel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Made from food-grade, rust-resistant stainless steel for durability and hygiene. </a:t>
            </a:r>
          </a:p>
          <a:p>
            <a:r>
              <a:rPr lang="en-IN" b="1" dirty="0"/>
              <a:t>🔪 Sharp Stainless Steel Blades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Precision-engineered blades for fast, fine, and efficient grinding. </a:t>
            </a:r>
          </a:p>
          <a:p>
            <a:r>
              <a:rPr lang="en-IN" b="1" dirty="0"/>
              <a:t>💪 Heavy-Duty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body designed to withstand daily kitchen use.</a:t>
            </a:r>
          </a:p>
        </p:txBody>
      </p:sp>
    </p:spTree>
    <p:extLst>
      <p:ext uri="{BB962C8B-B14F-4D97-AF65-F5344CB8AC3E}">
        <p14:creationId xmlns:p14="http://schemas.microsoft.com/office/powerpoint/2010/main" val="388998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98624"/>
              </p:ext>
            </p:extLst>
          </p:nvPr>
        </p:nvGraphicFramePr>
        <p:xfrm>
          <a:off x="7209184" y="1510747"/>
          <a:ext cx="4452729" cy="3897081"/>
        </p:xfrm>
        <a:graphic>
          <a:graphicData uri="http://schemas.openxmlformats.org/drawingml/2006/table">
            <a:tbl>
              <a:tblPr/>
              <a:tblGrid>
                <a:gridCol w="1066391">
                  <a:extLst>
                    <a:ext uri="{9D8B030D-6E8A-4147-A177-3AD203B41FA5}">
                      <a16:colId xmlns:a16="http://schemas.microsoft.com/office/drawing/2014/main" val="2946456258"/>
                    </a:ext>
                  </a:extLst>
                </a:gridCol>
                <a:gridCol w="3386338">
                  <a:extLst>
                    <a:ext uri="{9D8B030D-6E8A-4147-A177-3AD203B41FA5}">
                      <a16:colId xmlns:a16="http://schemas.microsoft.com/office/drawing/2014/main" val="480151178"/>
                    </a:ext>
                  </a:extLst>
                </a:gridCol>
              </a:tblGrid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68106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2446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431085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27239"/>
                  </a:ext>
                </a:extLst>
              </a:tr>
              <a:tr h="378242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4244"/>
                  </a:ext>
                </a:extLst>
              </a:tr>
              <a:tr h="540276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94232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41214"/>
                  </a:ext>
                </a:extLst>
              </a:tr>
              <a:tr h="271253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137204"/>
                  </a:ext>
                </a:extLst>
              </a:tr>
              <a:tr h="378242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0478"/>
                  </a:ext>
                </a:extLst>
              </a:tr>
              <a:tr h="474541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6982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551581" y="278296"/>
            <a:ext cx="5645427" cy="795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Karina Jar Set With PC Lid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7652" y="1671223"/>
            <a:ext cx="3922995" cy="294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003234" y="1671223"/>
            <a:ext cx="56586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Features</a:t>
            </a:r>
          </a:p>
          <a:p>
            <a:r>
              <a:rPr lang="en-IN" b="1" dirty="0"/>
              <a:t>🥣 Complete 3-Jar 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 Liquidizing Jar, Dry Grinding Jar, and Chutney Jar for all kitchen needs. </a:t>
            </a:r>
          </a:p>
          <a:p>
            <a:r>
              <a:rPr lang="en-IN" b="1" dirty="0"/>
              <a:t>🛡️ Premium Stainless Steel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Made from food-grade, rust-resistant stainless steel for durability and hygiene. </a:t>
            </a:r>
          </a:p>
          <a:p>
            <a:r>
              <a:rPr lang="en-IN" b="1" dirty="0"/>
              <a:t>🔪 Sharp Stainless Steel Blades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Precision-engineered blades for fast, fine, and efficient grinding. </a:t>
            </a:r>
          </a:p>
          <a:p>
            <a:r>
              <a:rPr lang="en-IN" b="1" dirty="0"/>
              <a:t>💪 Heavy-Duty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body designed to withstand daily kitchen use.</a:t>
            </a:r>
          </a:p>
        </p:txBody>
      </p:sp>
    </p:spTree>
    <p:extLst>
      <p:ext uri="{BB962C8B-B14F-4D97-AF65-F5344CB8AC3E}">
        <p14:creationId xmlns:p14="http://schemas.microsoft.com/office/powerpoint/2010/main" val="5436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45825"/>
              </p:ext>
            </p:extLst>
          </p:nvPr>
        </p:nvGraphicFramePr>
        <p:xfrm>
          <a:off x="6652592" y="9846365"/>
          <a:ext cx="5380382" cy="5046230"/>
        </p:xfrm>
        <a:graphic>
          <a:graphicData uri="http://schemas.openxmlformats.org/drawingml/2006/table">
            <a:tbl>
              <a:tblPr/>
              <a:tblGrid>
                <a:gridCol w="1288556">
                  <a:extLst>
                    <a:ext uri="{9D8B030D-6E8A-4147-A177-3AD203B41FA5}">
                      <a16:colId xmlns:a16="http://schemas.microsoft.com/office/drawing/2014/main" val="2946456258"/>
                    </a:ext>
                  </a:extLst>
                </a:gridCol>
                <a:gridCol w="4091826">
                  <a:extLst>
                    <a:ext uri="{9D8B030D-6E8A-4147-A177-3AD203B41FA5}">
                      <a16:colId xmlns:a16="http://schemas.microsoft.com/office/drawing/2014/main" val="480151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68106"/>
                  </a:ext>
                </a:extLst>
              </a:tr>
              <a:tr h="2483984">
                <a:tc>
                  <a:txBody>
                    <a:bodyPr/>
                    <a:lstStyle/>
                    <a:p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2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43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2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4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9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41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13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endParaRPr lang="en-IN" sz="140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71333" marR="71333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6982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525077" y="278296"/>
            <a:ext cx="5645427" cy="795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Preethi</a:t>
            </a:r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Jar Set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2636" y="1954166"/>
            <a:ext cx="4604882" cy="3453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5113" y="1444487"/>
            <a:ext cx="511534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Features</a:t>
            </a:r>
          </a:p>
          <a:p>
            <a:r>
              <a:rPr lang="en-IN" b="1" dirty="0"/>
              <a:t>🥣 Complete 3-Jar 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 Liquidizing Jar, Dry Grinding Jar, and Chutney Jar for all kitchen needs. </a:t>
            </a:r>
          </a:p>
          <a:p>
            <a:r>
              <a:rPr lang="en-IN" b="1" dirty="0"/>
              <a:t>🛡️ Premium Stainless Steel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Made from food-grade, rust-resistant stainless steel for durability and hygiene. </a:t>
            </a:r>
          </a:p>
          <a:p>
            <a:r>
              <a:rPr lang="en-IN" b="1" dirty="0"/>
              <a:t>🔪 Sharp Stainless Steel Blades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Precision-engineered blades for fast, fine, and efficient grinding. </a:t>
            </a:r>
          </a:p>
          <a:p>
            <a:r>
              <a:rPr lang="en-IN" b="1" dirty="0"/>
              <a:t>💪 Heavy-Duty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body designed to withstand daily kitchen use.</a:t>
            </a:r>
          </a:p>
        </p:txBody>
      </p:sp>
    </p:spTree>
    <p:extLst>
      <p:ext uri="{BB962C8B-B14F-4D97-AF65-F5344CB8AC3E}">
        <p14:creationId xmlns:p14="http://schemas.microsoft.com/office/powerpoint/2010/main" val="331199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2" y="1380226"/>
            <a:ext cx="3795024" cy="37950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312" y="2007004"/>
            <a:ext cx="3795024" cy="28462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93774" y="132522"/>
            <a:ext cx="53456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SPECIFICATION — DOSA TAWA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14393"/>
              </p:ext>
            </p:extLst>
          </p:nvPr>
        </p:nvGraphicFramePr>
        <p:xfrm>
          <a:off x="4701422" y="1798034"/>
          <a:ext cx="5622021" cy="3271002"/>
        </p:xfrm>
        <a:graphic>
          <a:graphicData uri="http://schemas.openxmlformats.org/drawingml/2006/table">
            <a:tbl>
              <a:tblPr/>
              <a:tblGrid>
                <a:gridCol w="1346418">
                  <a:extLst>
                    <a:ext uri="{9D8B030D-6E8A-4147-A177-3AD203B41FA5}">
                      <a16:colId xmlns:a16="http://schemas.microsoft.com/office/drawing/2014/main" val="79834073"/>
                    </a:ext>
                  </a:extLst>
                </a:gridCol>
                <a:gridCol w="4275603">
                  <a:extLst>
                    <a:ext uri="{9D8B030D-6E8A-4147-A177-3AD203B41FA5}">
                      <a16:colId xmlns:a16="http://schemas.microsoft.com/office/drawing/2014/main" val="3100237714"/>
                    </a:ext>
                  </a:extLst>
                </a:gridCol>
              </a:tblGrid>
              <a:tr h="19453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Brand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100" dirty="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244792"/>
                  </a:ext>
                </a:extLst>
              </a:tr>
              <a:tr h="19453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Material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Cast Iron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70813"/>
                  </a:ext>
                </a:extLst>
              </a:tr>
              <a:tr h="264278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Model Name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Cast Iron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8758"/>
                  </a:ext>
                </a:extLst>
              </a:tr>
              <a:tr h="491265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Recommended Uses For Product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sauteing vegetables, searing steaks, frying eggs, griddling pancakes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759192"/>
                  </a:ext>
                </a:extLst>
              </a:tr>
              <a:tr h="264278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Special Feature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Non Stick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50141"/>
                  </a:ext>
                </a:extLst>
              </a:tr>
              <a:tr h="19453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Colour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Black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996982"/>
                  </a:ext>
                </a:extLst>
              </a:tr>
              <a:tr h="19453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Capacity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1 Kilograms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368543"/>
                  </a:ext>
                </a:extLst>
              </a:tr>
              <a:tr h="377771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Compatible Devices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Gas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56696"/>
                  </a:ext>
                </a:extLst>
              </a:tr>
              <a:tr h="491265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Product Care Instructions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Dishwasher Safe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35463"/>
                  </a:ext>
                </a:extLst>
              </a:tr>
              <a:tr h="491265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Maximum Temperature</a:t>
                      </a:r>
                      <a:endParaRPr lang="en-IN" sz="1100">
                        <a:effectLst/>
                      </a:endParaRP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 dirty="0">
                          <a:effectLst/>
                        </a:rPr>
                        <a:t>500 Degrees Fahrenheit</a:t>
                      </a:r>
                    </a:p>
                  </a:txBody>
                  <a:tcPr marL="55080" marR="55080" marT="27540" marB="27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59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72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806" y="1787773"/>
            <a:ext cx="3862786" cy="289708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97765"/>
              </p:ext>
            </p:extLst>
          </p:nvPr>
        </p:nvGraphicFramePr>
        <p:xfrm>
          <a:off x="5049078" y="1709533"/>
          <a:ext cx="6543466" cy="3875524"/>
        </p:xfrm>
        <a:graphic>
          <a:graphicData uri="http://schemas.openxmlformats.org/drawingml/2006/table">
            <a:tbl>
              <a:tblPr/>
              <a:tblGrid>
                <a:gridCol w="1988035">
                  <a:extLst>
                    <a:ext uri="{9D8B030D-6E8A-4147-A177-3AD203B41FA5}">
                      <a16:colId xmlns:a16="http://schemas.microsoft.com/office/drawing/2014/main" val="3421448815"/>
                    </a:ext>
                  </a:extLst>
                </a:gridCol>
                <a:gridCol w="4555431">
                  <a:extLst>
                    <a:ext uri="{9D8B030D-6E8A-4147-A177-3AD203B41FA5}">
                      <a16:colId xmlns:a16="http://schemas.microsoft.com/office/drawing/2014/main" val="2226707421"/>
                    </a:ext>
                  </a:extLst>
                </a:gridCol>
              </a:tblGrid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Brand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100" dirty="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914917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Material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Cast Iron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237896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Handle Material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Cast Iron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018692"/>
                  </a:ext>
                </a:extLst>
              </a:tr>
              <a:tr h="382706">
                <a:tc>
                  <a:txBody>
                    <a:bodyPr/>
                    <a:lstStyle/>
                    <a:p>
                      <a:pPr fontAlgn="t"/>
                      <a:r>
                        <a:rPr lang="en-IN" sz="1100" b="1" dirty="0">
                          <a:effectLst/>
                        </a:rPr>
                        <a:t>Recommended Uses For Product</a:t>
                      </a:r>
                      <a:endParaRPr lang="en-IN" sz="1100" dirty="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Pan Roasting, Sauteing, Frying, Griddling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504346"/>
                  </a:ext>
                </a:extLst>
              </a:tr>
              <a:tr h="1566042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Special Feature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100" dirty="0">
                          <a:effectLst/>
                        </a:rPr>
                        <a:t>Heavy Gauge -Lasts For Generations The Cast Iron Cookware Is Heavy Duty, Long Lasting And Is A Cookware That You Will Use For Generations To Come., Retains Heat For Long Ensuring Food Remains Hot For A Long Time., Size-9</a:t>
                      </a:r>
                      <a:r>
                        <a:rPr lang="en-GB" sz="1100" baseline="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Pits; Cast Iron, Smooth Finish Cookware, Suitable For Outdoor Cooking This Cookware Can Be Used Even For Outdoor Cooking Making It The Right </a:t>
                      </a:r>
                      <a:r>
                        <a:rPr lang="en-GB" sz="1100" dirty="0" err="1">
                          <a:effectLst/>
                        </a:rPr>
                        <a:t>Pick.Heavy</a:t>
                      </a:r>
                      <a:r>
                        <a:rPr lang="en-GB" sz="1100" dirty="0">
                          <a:effectLst/>
                        </a:rPr>
                        <a:t> Gauge -Lasts For Generations The Cast Iron Cookware Is Heavy Duty, Long Lasting And Is A Cookware That You Will Use For Generations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312416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Colour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 dirty="0">
                          <a:effectLst/>
                        </a:rPr>
                        <a:t>Black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503491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Capacity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0.5 litres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57516"/>
                  </a:ext>
                </a:extLst>
              </a:tr>
              <a:tr h="284736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Compatible Devices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Smooth Surface Induction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772037"/>
                  </a:ext>
                </a:extLst>
              </a:tr>
              <a:tr h="382706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Product Care Instructions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>
                          <a:effectLst/>
                        </a:rPr>
                        <a:t>Hand Wash Only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184329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fontAlgn="t"/>
                      <a:r>
                        <a:rPr lang="en-IN" sz="1100" b="1">
                          <a:effectLst/>
                        </a:rPr>
                        <a:t>Item Weight</a:t>
                      </a:r>
                      <a:endParaRPr lang="en-IN" sz="1100">
                        <a:effectLst/>
                      </a:endParaRP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100" dirty="0">
                          <a:effectLst/>
                        </a:rPr>
                        <a:t>2.5 Kilograms</a:t>
                      </a:r>
                    </a:p>
                  </a:txBody>
                  <a:tcPr marL="35961" marR="35961" marT="17981" marB="179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4978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902226" y="-1"/>
            <a:ext cx="5637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SPECIFICATION — Paniyaram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7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6207" y="1497495"/>
            <a:ext cx="4240697" cy="318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939178"/>
              </p:ext>
            </p:extLst>
          </p:nvPr>
        </p:nvGraphicFramePr>
        <p:xfrm>
          <a:off x="5751442" y="1171572"/>
          <a:ext cx="4757531" cy="3627855"/>
        </p:xfrm>
        <a:graphic>
          <a:graphicData uri="http://schemas.openxmlformats.org/drawingml/2006/table">
            <a:tbl>
              <a:tblPr/>
              <a:tblGrid>
                <a:gridCol w="1139390">
                  <a:extLst>
                    <a:ext uri="{9D8B030D-6E8A-4147-A177-3AD203B41FA5}">
                      <a16:colId xmlns:a16="http://schemas.microsoft.com/office/drawing/2014/main" val="3600811223"/>
                    </a:ext>
                  </a:extLst>
                </a:gridCol>
                <a:gridCol w="3618141">
                  <a:extLst>
                    <a:ext uri="{9D8B030D-6E8A-4147-A177-3AD203B41FA5}">
                      <a16:colId xmlns:a16="http://schemas.microsoft.com/office/drawing/2014/main" val="3164471385"/>
                    </a:ext>
                  </a:extLst>
                </a:gridCol>
              </a:tblGrid>
              <a:tr h="2399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Brand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300" dirty="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56602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Material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Cast Iron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58736"/>
                  </a:ext>
                </a:extLst>
              </a:tr>
              <a:tr h="4206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Special Feature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 dirty="0">
                          <a:effectLst/>
                        </a:rPr>
                        <a:t>Non Stick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71933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Colour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Brown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275260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Capacity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2.5 litres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380119"/>
                  </a:ext>
                </a:extLst>
              </a:tr>
              <a:tr h="4206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Compatible Devices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Smooth Surface Induction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4110"/>
                  </a:ext>
                </a:extLst>
              </a:tr>
              <a:tr h="574267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Product Care Instructions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Hand Wash Only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119192"/>
                  </a:ext>
                </a:extLst>
              </a:tr>
              <a:tr h="420635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Handle Material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Cast Iron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12085"/>
                  </a:ext>
                </a:extLst>
              </a:tr>
              <a:tr h="308883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Item Weight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>
                          <a:effectLst/>
                        </a:rPr>
                        <a:t>2.4 Kilograms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810923"/>
                  </a:ext>
                </a:extLst>
              </a:tr>
              <a:tr h="308883">
                <a:tc>
                  <a:txBody>
                    <a:bodyPr/>
                    <a:lstStyle/>
                    <a:p>
                      <a:pPr fontAlgn="t"/>
                      <a:r>
                        <a:rPr lang="en-IN" sz="1300" b="1">
                          <a:effectLst/>
                        </a:rPr>
                        <a:t>Is Oven Safe</a:t>
                      </a:r>
                      <a:endParaRPr lang="en-IN" sz="1300">
                        <a:effectLst/>
                      </a:endParaRP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300" dirty="0">
                          <a:effectLst/>
                        </a:rPr>
                        <a:t>No</a:t>
                      </a:r>
                    </a:p>
                  </a:txBody>
                  <a:tcPr marL="64945" marR="64945" marT="32473" marB="3247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04177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08243" y="0"/>
            <a:ext cx="54606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SPECIFICATION — </a:t>
            </a:r>
            <a:r>
              <a:rPr lang="en-US" b="1" dirty="0" err="1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Kadai</a:t>
            </a:r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3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902226" y="291548"/>
            <a:ext cx="52973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SPECIFICATION — </a:t>
            </a:r>
            <a:r>
              <a:rPr lang="en-US" b="1" dirty="0" err="1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Chapati</a:t>
            </a:r>
            <a:r>
              <a:rPr lang="en-US" b="1" dirty="0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E81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Tawa</a:t>
            </a:r>
            <a:endParaRPr lang="en-US" dirty="0"/>
          </a:p>
        </p:txBody>
      </p:sp>
      <p:sp>
        <p:nvSpPr>
          <p:cNvPr id="5" name="AutoShape 4" descr="Iron_tawa_for_Roti,Chapati,Dosa_Loha_Tawa_with_Wooden_Handle_Premium,_100%_Toxin-Free,_Long_Lasting,_Black__PANCA__undef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718182"/>
              </p:ext>
            </p:extLst>
          </p:nvPr>
        </p:nvGraphicFramePr>
        <p:xfrm>
          <a:off x="6215270" y="1166190"/>
          <a:ext cx="5138530" cy="4481024"/>
        </p:xfrm>
        <a:graphic>
          <a:graphicData uri="http://schemas.openxmlformats.org/drawingml/2006/table">
            <a:tbl>
              <a:tblPr/>
              <a:tblGrid>
                <a:gridCol w="2569265">
                  <a:extLst>
                    <a:ext uri="{9D8B030D-6E8A-4147-A177-3AD203B41FA5}">
                      <a16:colId xmlns:a16="http://schemas.microsoft.com/office/drawing/2014/main" val="642050878"/>
                    </a:ext>
                  </a:extLst>
                </a:gridCol>
                <a:gridCol w="2569265">
                  <a:extLst>
                    <a:ext uri="{9D8B030D-6E8A-4147-A177-3AD203B41FA5}">
                      <a16:colId xmlns:a16="http://schemas.microsoft.com/office/drawing/2014/main" val="4143961804"/>
                    </a:ext>
                  </a:extLst>
                </a:gridCol>
              </a:tblGrid>
              <a:tr h="380968">
                <a:tc>
                  <a:txBody>
                    <a:bodyPr/>
                    <a:lstStyle/>
                    <a:p>
                      <a:r>
                        <a:rPr lang="en-IN"/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20370"/>
                  </a:ext>
                </a:extLst>
              </a:tr>
              <a:tr h="380968">
                <a:tc>
                  <a:txBody>
                    <a:bodyPr/>
                    <a:lstStyle/>
                    <a:p>
                      <a:r>
                        <a:rPr lang="en-IN"/>
                        <a:t>Product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Non-Stick Flat Tawa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575687"/>
                  </a:ext>
                </a:extLst>
              </a:tr>
              <a:tr h="380968">
                <a:tc>
                  <a:txBody>
                    <a:bodyPr/>
                    <a:lstStyle/>
                    <a:p>
                      <a:r>
                        <a:rPr lang="en-IN" dirty="0"/>
                        <a:t>Coating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 Non-Stick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668112"/>
                  </a:ext>
                </a:extLst>
              </a:tr>
              <a:tr h="644046">
                <a:tc>
                  <a:txBody>
                    <a:bodyPr/>
                    <a:lstStyle/>
                    <a:p>
                      <a:r>
                        <a:rPr lang="en-IN"/>
                        <a:t>Handle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Heat-Resistant Wooden Handle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86012"/>
                  </a:ext>
                </a:extLst>
              </a:tr>
              <a:tr h="644046">
                <a:tc>
                  <a:txBody>
                    <a:bodyPr/>
                    <a:lstStyle/>
                    <a:p>
                      <a:r>
                        <a:rPr lang="en-IN" dirty="0"/>
                        <a:t>Surface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Scratch-Resistant Non-Stick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79024"/>
                  </a:ext>
                </a:extLst>
              </a:tr>
              <a:tr h="644046">
                <a:tc>
                  <a:txBody>
                    <a:bodyPr/>
                    <a:lstStyle/>
                    <a:p>
                      <a:r>
                        <a:rPr lang="en-IN"/>
                        <a:t>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Heavy Gauge Construction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334201"/>
                  </a:ext>
                </a:extLst>
              </a:tr>
              <a:tr h="380968">
                <a:tc>
                  <a:txBody>
                    <a:bodyPr/>
                    <a:lstStyle/>
                    <a:p>
                      <a:r>
                        <a:rPr lang="en-IN"/>
                        <a:t>Heat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Uniform Heating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70885"/>
                  </a:ext>
                </a:extLst>
              </a:tr>
              <a:tr h="644046">
                <a:tc>
                  <a:txBody>
                    <a:bodyPr/>
                    <a:lstStyle/>
                    <a:p>
                      <a:r>
                        <a:rPr lang="en-IN"/>
                        <a:t>Cooktop Compatibility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Gas Stove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153458"/>
                  </a:ext>
                </a:extLst>
              </a:tr>
              <a:tr h="380968">
                <a:tc>
                  <a:txBody>
                    <a:bodyPr/>
                    <a:lstStyle/>
                    <a:p>
                      <a:r>
                        <a:rPr lang="en-IN"/>
                        <a:t>Cleaning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Easy Clean Surface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900642"/>
                  </a:ext>
                </a:extLst>
              </a:tr>
            </a:tbl>
          </a:graphicData>
        </a:graphic>
      </p:graphicFrame>
      <p:sp>
        <p:nvSpPr>
          <p:cNvPr id="10" name="AutoShape 8" descr="Decorative Cast-Iron Griddle P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8192" y="1747456"/>
            <a:ext cx="4075408" cy="305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4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7895" y="1989188"/>
            <a:ext cx="4542045" cy="340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77" y="1192695"/>
            <a:ext cx="55394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  <a:latin typeface="Gotham Pro Narrow"/>
              </a:rPr>
              <a:t>TurboCuk</a:t>
            </a:r>
            <a:r>
              <a:rPr lang="en-GB" dirty="0">
                <a:solidFill>
                  <a:srgbClr val="000000"/>
                </a:solidFill>
                <a:latin typeface="Gotham Pro Narrow"/>
              </a:rPr>
              <a:t> Triply Stainless Steel </a:t>
            </a:r>
            <a:r>
              <a:rPr lang="en-GB" dirty="0" err="1">
                <a:solidFill>
                  <a:srgbClr val="000000"/>
                </a:solidFill>
                <a:latin typeface="Gotham Pro Narrow"/>
              </a:rPr>
              <a:t>Tadka</a:t>
            </a:r>
            <a:r>
              <a:rPr lang="en-GB" dirty="0">
                <a:solidFill>
                  <a:srgbClr val="000000"/>
                </a:solidFill>
                <a:latin typeface="Gotham Pro Narrow"/>
              </a:rPr>
              <a:t> Pan 300ml for Spice Seasoning/Heating, Premium Quality, 3 Layer Thick Body, 100% Toxin-free, Non-stick, Induction &amp; Gas</a:t>
            </a:r>
            <a:endParaRPr lang="en-GB" b="0" i="0" dirty="0">
              <a:solidFill>
                <a:srgbClr val="000000"/>
              </a:solidFill>
              <a:effectLst/>
              <a:latin typeface="Gotham Pro Narr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11896" y="172278"/>
            <a:ext cx="57371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PRODUCT SPECIFICATION — </a:t>
            </a:r>
            <a:r>
              <a:rPr lang="en-IN" dirty="0" err="1"/>
              <a:t>Tadka</a:t>
            </a:r>
            <a:r>
              <a:rPr lang="en-IN" dirty="0"/>
              <a:t> Pan</a:t>
            </a:r>
          </a:p>
        </p:txBody>
      </p:sp>
    </p:spTree>
    <p:extLst>
      <p:ext uri="{BB962C8B-B14F-4D97-AF65-F5344CB8AC3E}">
        <p14:creationId xmlns:p14="http://schemas.microsoft.com/office/powerpoint/2010/main" val="3264169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336377"/>
              </p:ext>
            </p:extLst>
          </p:nvPr>
        </p:nvGraphicFramePr>
        <p:xfrm>
          <a:off x="5026372" y="1825625"/>
          <a:ext cx="5760897" cy="4689660"/>
        </p:xfrm>
        <a:graphic>
          <a:graphicData uri="http://schemas.openxmlformats.org/drawingml/2006/table">
            <a:tbl>
              <a:tblPr/>
              <a:tblGrid>
                <a:gridCol w="1379677">
                  <a:extLst>
                    <a:ext uri="{9D8B030D-6E8A-4147-A177-3AD203B41FA5}">
                      <a16:colId xmlns:a16="http://schemas.microsoft.com/office/drawing/2014/main" val="3470393755"/>
                    </a:ext>
                  </a:extLst>
                </a:gridCol>
                <a:gridCol w="4381220">
                  <a:extLst>
                    <a:ext uri="{9D8B030D-6E8A-4147-A177-3AD203B41FA5}">
                      <a16:colId xmlns:a16="http://schemas.microsoft.com/office/drawing/2014/main" val="3013907794"/>
                    </a:ext>
                  </a:extLst>
                </a:gridCol>
              </a:tblGrid>
              <a:tr h="129300">
                <a:tc>
                  <a:txBody>
                    <a:bodyPr/>
                    <a:lstStyle/>
                    <a:p>
                      <a:pPr fontAlgn="t"/>
                      <a:r>
                        <a:rPr lang="en-IN" sz="1400" b="1" dirty="0">
                          <a:effectLst/>
                        </a:rPr>
                        <a:t>Brand</a:t>
                      </a:r>
                      <a:endParaRPr lang="en-IN" sz="1400" dirty="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IN" sz="1400" dirty="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717358"/>
                  </a:ext>
                </a:extLst>
              </a:tr>
              <a:tr h="129300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Colour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Grey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648603"/>
                  </a:ext>
                </a:extLst>
              </a:tr>
              <a:tr h="323250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Product Dimensions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400">
                          <a:effectLst/>
                        </a:rPr>
                        <a:t>41L x 31W x 0.1Th Centimeters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653462"/>
                  </a:ext>
                </a:extLst>
              </a:tr>
              <a:tr h="129300">
                <a:tc>
                  <a:txBody>
                    <a:bodyPr/>
                    <a:lstStyle/>
                    <a:p>
                      <a:pPr fontAlgn="t"/>
                      <a:r>
                        <a:rPr lang="en-IN" sz="1400" b="1" dirty="0">
                          <a:effectLst/>
                        </a:rPr>
                        <a:t>Material</a:t>
                      </a:r>
                      <a:endParaRPr lang="en-IN" sz="1400" dirty="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Stainless Steel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870537"/>
                  </a:ext>
                </a:extLst>
              </a:tr>
              <a:tr h="808124">
                <a:tc>
                  <a:txBody>
                    <a:bodyPr/>
                    <a:lstStyle/>
                    <a:p>
                      <a:pPr fontAlgn="t"/>
                      <a:r>
                        <a:rPr lang="en-IN" sz="1400" b="1" dirty="0">
                          <a:effectLst/>
                        </a:rPr>
                        <a:t>Recommended Uses For Product</a:t>
                      </a:r>
                      <a:endParaRPr lang="en-IN" sz="1400" dirty="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Cutting vegetables, fruits, meat, fish, dough preparation, home kitchen use, professional kitchen use, daily meal </a:t>
                      </a:r>
                      <a:r>
                        <a:rPr lang="en-IN" sz="1400" dirty="0" err="1">
                          <a:effectLst/>
                        </a:rPr>
                        <a:t>preparationCutting</a:t>
                      </a:r>
                      <a:r>
                        <a:rPr lang="en-IN" sz="1400" dirty="0">
                          <a:effectLst/>
                        </a:rPr>
                        <a:t> vegetables, fruits, meat, fish, dough preparation, home kitchen use, professional kitchen use, daily meal preparation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091582"/>
                  </a:ext>
                </a:extLst>
              </a:tr>
              <a:tr h="129300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Shape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Rectangular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284656"/>
                  </a:ext>
                </a:extLst>
              </a:tr>
              <a:tr h="420224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Product Care Instructions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Dishwasher Safe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52567"/>
                  </a:ext>
                </a:extLst>
              </a:tr>
              <a:tr h="808124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Special Feature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Rust Resistant, Double Sided, Heavy Duty, Hygienic, </a:t>
                      </a:r>
                      <a:r>
                        <a:rPr lang="en-IN" sz="1400" dirty="0" err="1">
                          <a:effectLst/>
                        </a:rPr>
                        <a:t>Odor</a:t>
                      </a:r>
                      <a:r>
                        <a:rPr lang="en-IN" sz="1400" dirty="0">
                          <a:effectLst/>
                        </a:rPr>
                        <a:t> Free, Non-Porous, Dishwasher Safe, Non-Slip, Stain Resistant, Easy to </a:t>
                      </a:r>
                      <a:r>
                        <a:rPr lang="en-IN" sz="1400" dirty="0" err="1">
                          <a:effectLst/>
                        </a:rPr>
                        <a:t>CleanRust</a:t>
                      </a:r>
                      <a:r>
                        <a:rPr lang="en-IN" sz="1400" dirty="0">
                          <a:effectLst/>
                        </a:rPr>
                        <a:t> Resistant, Double Sided, Heavy Duty, Hygienic, </a:t>
                      </a:r>
                      <a:r>
                        <a:rPr lang="en-IN" sz="1400" dirty="0" err="1">
                          <a:effectLst/>
                        </a:rPr>
                        <a:t>Odor</a:t>
                      </a:r>
                      <a:r>
                        <a:rPr lang="en-IN" sz="1400" dirty="0">
                          <a:effectLst/>
                        </a:rPr>
                        <a:t> Free, Non-Porous, Dishwasher Safe, Non-Slip, Stain Resistant, Easy to Clean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78547"/>
                  </a:ext>
                </a:extLst>
              </a:tr>
              <a:tr h="226275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Item Weight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0.9 Kilograms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240540"/>
                  </a:ext>
                </a:extLst>
              </a:tr>
              <a:tr h="226275">
                <a:tc>
                  <a:txBody>
                    <a:bodyPr/>
                    <a:lstStyle/>
                    <a:p>
                      <a:pPr fontAlgn="t"/>
                      <a:r>
                        <a:rPr lang="en-IN" sz="1400" b="1">
                          <a:effectLst/>
                        </a:rPr>
                        <a:t>Number of Packs</a:t>
                      </a:r>
                      <a:endParaRPr lang="en-IN" sz="1400">
                        <a:effectLst/>
                      </a:endParaRP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1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6674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199861" y="331304"/>
            <a:ext cx="59491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PRODUCT SPECIFICATION — Chopping Board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0974" y="2267074"/>
            <a:ext cx="3531596" cy="264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23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395769" y="1827402"/>
            <a:ext cx="4017204" cy="301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890050" y="1126435"/>
            <a:ext cx="63875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🤗100% CHEMICAL FREE: No harmful toxic coatings. 100% food-safe.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😊QUALITY ASSURANCE: Made of premium quality, food-grade 304 stainless steel. Certified by NABL Laboratory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3️⃣3 LAYERED BOTTOM: Tri-ply sandwich bottom is made of 3 layers of metals. Durable, scratch and rust resistant.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✨SUPERIOR PERFORMANCE: The ergonomically designed body of the </a:t>
            </a:r>
            <a:r>
              <a:rPr lang="en-GB" sz="1600" dirty="0" err="1">
                <a:solidFill>
                  <a:srgbClr val="0F1111"/>
                </a:solidFill>
                <a:latin typeface="Amazon Ember"/>
              </a:rPr>
              <a:t>idli</a:t>
            </a:r>
            <a:r>
              <a:rPr lang="en-GB" sz="1600" dirty="0">
                <a:solidFill>
                  <a:srgbClr val="0F1111"/>
                </a:solidFill>
                <a:latin typeface="Amazon Ember"/>
              </a:rPr>
              <a:t> cooker enables heat distribution evenly.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🥘FAST &amp; EFFORTLESS COOKING: Aesthetically designed for enhanced convenience. Faster cooking compared to aluminium </a:t>
            </a:r>
            <a:r>
              <a:rPr lang="en-GB" sz="1600" dirty="0" err="1">
                <a:solidFill>
                  <a:srgbClr val="0F1111"/>
                </a:solidFill>
                <a:latin typeface="Amazon Ember"/>
              </a:rPr>
              <a:t>idli</a:t>
            </a:r>
            <a:r>
              <a:rPr lang="en-GB" sz="1600" dirty="0">
                <a:solidFill>
                  <a:srgbClr val="0F1111"/>
                </a:solidFill>
                <a:latin typeface="Amazon Ember"/>
              </a:rPr>
              <a:t> cooker. Perfect for daily use &amp; urban lifestyle.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💰SAVES MONEY: Fast heat transfer cooks healthy and tasty dishes in a few minutes. Thus, saving time, gas and money for you!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💪SUPER DURABLE: This premium quality stainless steel multi-pot will last for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👩🏻‍🍳MULTI-PURPOSE: Effortlessly cook healthy dishes with multiple plates. It fits 2 plates at a time. Suitable for both gas and induction stove.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F1111"/>
                </a:solidFill>
                <a:latin typeface="Amazon Ember"/>
              </a:rPr>
              <a:t>🧼EASY TO CLEAN: Stainless steel body with triply base prevents water stains at the bottom. Prevents food burning or sticking to the plates/surface. So, no cleaning hassles.</a:t>
            </a:r>
            <a:endParaRPr lang="en-GB" sz="1600" b="0" i="0" dirty="0">
              <a:solidFill>
                <a:srgbClr val="0F1111"/>
              </a:solidFill>
              <a:effectLst/>
              <a:latin typeface="Amazon Emb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25148" y="159026"/>
            <a:ext cx="5723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PRODUCT SPECIFICATION — Multi </a:t>
            </a:r>
            <a:r>
              <a:rPr lang="en-IN" dirty="0" err="1"/>
              <a:t>Kadai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587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1300</Words>
  <Application>Microsoft Office PowerPoint</Application>
  <PresentationFormat>Widescreen</PresentationFormat>
  <Paragraphs>237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Amazon Ember</vt:lpstr>
      <vt:lpstr>Arial</vt:lpstr>
      <vt:lpstr>Calibri</vt:lpstr>
      <vt:lpstr>Calibri Light</vt:lpstr>
      <vt:lpstr>Gotham Pro Narrow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Prakhar</dc:title>
  <dc:creator>ANURAG YADAV .</dc:creator>
  <cp:lastModifiedBy>mohnish pravesh</cp:lastModifiedBy>
  <cp:revision>27</cp:revision>
  <dcterms:created xsi:type="dcterms:W3CDTF">2026-08-06T09:45:21Z</dcterms:created>
  <dcterms:modified xsi:type="dcterms:W3CDTF">2026-08-09T12:02:42Z</dcterms:modified>
</cp:coreProperties>
</file>